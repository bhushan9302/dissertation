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10360152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0"/>
            <a:ext cx="981151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3366"/>
                </a:solidFill>
              </a:rPr>
              <a:t>Mapping and Modelling the</a:t>
            </a:r>
          </a:p>
          <a:p>
            <a:pPr algn="ctr"/>
            <a:r>
              <a:rPr sz="3600" b="1">
                <a:solidFill>
                  <a:srgbClr val="003366"/>
                </a:solidFill>
              </a:rPr>
              <a:t>Spatial Diffusion of AI in the UK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3154680"/>
            <a:ext cx="6702552" cy="3657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291840"/>
            <a:ext cx="9811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005FAD"/>
                </a:solidFill>
              </a:rPr>
              <a:t>MSc Dissertation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931920"/>
            <a:ext cx="9811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33333"/>
                </a:solidFill>
              </a:rPr>
              <a:t>Bhushan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343400"/>
            <a:ext cx="9811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666666"/>
                </a:solidFill>
              </a:rPr>
              <a:t>MSc in Applied Data Science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103601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666666"/>
                </a:solidFill>
              </a:rPr>
              <a:t>Machine Learning   ·   Spatial Analysis   ·   Location Quotients   ·   LDA Topic Modelling   ·   UK AI Economy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0"/>
                </a:solidFill>
              </a:rPr>
              <a:t>Mapping and Modelling the Spatial Diffusion of AI in the UK  |  MSc Dissertation  |  Bhushan  |  Slide 2 of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5577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333333"/>
                </a:solidFill>
              </a:rPr>
              <a:t>▪  1.  Research Context &amp; Motivation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2.  Research Questions &amp; Objectives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3.  Literature Review – Theoretical Frameworks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4.  Data &amp; Data Collection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5.  Methodology Overview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6.  Entity Resolution &amp; HQ Proxy Modelling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7.  AI Classification Model (95.32% accuracy)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8.  Topic Modelling – LDA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371600"/>
            <a:ext cx="5577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333333"/>
                </a:solidFill>
              </a:rPr>
              <a:t>▪  9.  Spatial Analysis Methodology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10. Key Findings – Spatial Patterns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11. Key Findings – Sectoral Analysis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12. Key Findings – Diffusion Patterns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13. Discussion &amp; Implications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14. Limitations &amp; Future Work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15.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Research Context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D6E4F0"/>
                </a:solidFill>
              </a:rPr>
              <a:t>Why study the spatial diffusion of AI in the UK?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0"/>
                </a:solidFill>
              </a:rPr>
              <a:t>Mapping and Modelling the Spatial Diffusion of AI in the UK  |  MSc Dissertation  |  Bhushan  |  Slide 3 of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333333"/>
                </a:solidFill>
              </a:rPr>
              <a:t>▪  Artificial Intelligence has emerged as a transformative, general-purpose technology reshaping entire industries.</a:t>
            </a:r>
          </a:p>
          <a:p>
            <a:pPr/>
            <a:r>
              <a:rPr sz="1700">
                <a:solidFill>
                  <a:srgbClr val="333333"/>
                </a:solidFill>
              </a:rPr>
              <a:t>▪  The UK is one of the leading AI economies globally, yet geographic patterns of firm-level AI adoption remain poorly understood.</a:t>
            </a:r>
          </a:p>
          <a:p>
            <a:pPr/>
            <a:r>
              <a:rPr sz="1700">
                <a:solidFill>
                  <a:srgbClr val="333333"/>
                </a:solidFill>
              </a:rPr>
              <a:t>▪  Existing research focuses on AI investment flows or national aggregates; granular spatial analysis is lacking.</a:t>
            </a:r>
          </a:p>
          <a:p>
            <a:pPr/>
            <a:r>
              <a:rPr sz="1700">
                <a:solidFill>
                  <a:srgbClr val="333333"/>
                </a:solidFill>
              </a:rPr>
              <a:t>▪  Understanding where AI firms cluster—and why—has direct implications for regional policy, infrastructure investment, and digital inclusion.</a:t>
            </a:r>
          </a:p>
          <a:p>
            <a:pPr/>
            <a:r>
              <a:rPr sz="1700">
                <a:solidFill>
                  <a:srgbClr val="333333"/>
                </a:solidFill>
              </a:rPr>
              <a:t>▪  This dissertation fills the gap by mapping AI diffusion at the UK Outcode (Postal District) level using firm-level web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40312" y="1188720"/>
            <a:ext cx="548640" cy="53949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Research Questions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0"/>
                </a:solidFill>
              </a:rPr>
              <a:t>Mapping and Modelling the Spatial Diffusion of AI in the UK  |  MSc Dissertation  |  Bhushan  |  Slide 4 of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1457432" cy="7772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366"/>
                </a:solidFill>
              </a:rPr>
              <a:t>Primary Research Question:  How does Artificial Intelligence diffuse spatially across the United Kingdom?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</a:rPr>
              <a:t>Sub-Questions: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748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333333"/>
                </a:solidFill>
              </a:rPr>
              <a:t>▪  Does AI adoption exhibit hierarchical diffusion (London → secondary cities)?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What spatial concentration patterns emerge at the UK Outcode level?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Which economic sectors show the highest AI penetration, and how does this vary by region?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Is there evidence of knowledge spillovers / epidemic diffusion effects around major clusters?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286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</a:rPr>
              <a:t>Objectives: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69748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333333"/>
                </a:solidFill>
              </a:rPr>
              <a:t>▪  MAP  – Identify AI firm locations at UK Outcode level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MODEL  – Classify AI vs non-AI firms (ML pipeline)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ANALYSE  – Quantify spatial concentration via LQ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INTERPRET  – Test hierarchical &amp; epidemic diffusion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VISUALISE  – Produce Tableau-ready hotspot dataset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Literature Review – Theoretical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D6E4F0"/>
                </a:solidFill>
              </a:rPr>
              <a:t>Foundations from innovation geography &amp; diffusion theory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0"/>
                </a:solidFill>
              </a:rPr>
              <a:t>Mapping and Modelling the Spatial Diffusion of AI in the UK  |  MSc Dissertation  |  Bhushan  |  Slide 5 of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57432" cy="1828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Innovation Diffusion Theory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Rogers (1962) &amp; Hägerstrand (1967): innovations spread through social networks and geographic proximity over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48840"/>
            <a:ext cx="11457432" cy="1828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Hierarchical Diffusion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5000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Adoption 'jumps' down the urban hierarchy from primate cities (London) to secondary centres before spreading to periphery.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26080"/>
            <a:ext cx="11457432" cy="1828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2608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Contagious / Epidemic Diffusion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12724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Geographic clustering via proximity; knowledge spillovers accelerate local adoption — analogous to disease contagion.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03320"/>
            <a:ext cx="11457432" cy="1828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70332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General Purpose Technology (GPT) Theory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0448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Bresnahan &amp; Trajtenberg (1995): AI exhibits pervasive applicability, improvement over time, and innovation complementarities across sectors.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480560"/>
            <a:ext cx="11457432" cy="1828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48056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Urban Hierarchy &amp; Agglomeration Economics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8172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Concentration in dense urban labour markets (Marshall externalities); talent clustering, thick markets, knowledge exchange.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Data &amp; Data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D6E4F0"/>
                </a:solidFill>
              </a:rPr>
              <a:t>Firm-level web-scraped dataset of UK AI firms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0"/>
                </a:solidFill>
              </a:rPr>
              <a:t>Mapping and Modelling the Spatial Diffusion of AI in the UK  |  MSc Dissertation  |  Bhushan  |  Slide 6 of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</a:rPr>
              <a:t>Dataset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333333"/>
                </a:solidFill>
              </a:rPr>
              <a:t>▪  Source: Web-scraped UK business websites (ai_websites.csv)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Key fields: URL, full-text content, postcode, inferred base domain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National coverage — businesses across all UK regions and sectors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Post-deduplication: unique firms resolved via base domain aggregation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Ground-truth labels: AI / Non-AI (human annotation + keyword heuristics)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325880"/>
            <a:ext cx="5669280" cy="5212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</a:rPr>
              <a:t>Data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333333"/>
                </a:solidFill>
              </a:rPr>
              <a:t>▪  ① Web Scraping — collect URLs &amp; text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② HTML Parsing — extract clean text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③ Base Domain Extraction — entity resolution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④ Postcode Extraction &amp; Cleaning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⑤ Keyword Heuristics — initial AI labels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⑥ Train / Test Split (80 / 20)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⑦ TF-IDF Features + ML Classification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Methodology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D6E4F0"/>
                </a:solidFill>
              </a:rPr>
              <a:t>Integrated ML + Spatial Econometrics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0"/>
                </a:solidFill>
              </a:rPr>
              <a:t>Mapping and Modelling the Spatial Diffusion of AI in the UK  |  MSc Dissertation  |  Bhushan  |  Slide 7 of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286000"/>
            <a:ext cx="1645920" cy="1005840"/>
          </a:xfrm>
          <a:prstGeom prst="rect">
            <a:avLst/>
          </a:prstGeom>
          <a:solidFill>
            <a:srgbClr val="00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228600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Data
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25603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0A500"/>
                </a:solidFill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48840" y="2286000"/>
            <a:ext cx="164592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228600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Entity
Resolution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5603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0A500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7640" y="2286000"/>
            <a:ext cx="1645920" cy="1005840"/>
          </a:xfrm>
          <a:prstGeom prst="rect">
            <a:avLst/>
          </a:prstGeom>
          <a:solidFill>
            <a:srgbClr val="00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7640" y="228600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AI
Classification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25603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0A500"/>
                </a:solidFill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2286000"/>
            <a:ext cx="164592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228600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Topic
Modelling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5603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0A500"/>
                </a:solidFill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35240" y="2286000"/>
            <a:ext cx="1645920" cy="1005840"/>
          </a:xfrm>
          <a:prstGeom prst="rect">
            <a:avLst/>
          </a:prstGeom>
          <a:solidFill>
            <a:srgbClr val="00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228600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Spatial
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5603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0A500"/>
                </a:solidFill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64040" y="2286000"/>
            <a:ext cx="164592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4040" y="228600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Visualisation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352044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Web scraping UK business sites; extract URL, text, postcode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352044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Base domain aggregation; HQ postcode via Mode proxy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40" y="352044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TF-IDF + MiniBatchKMeans + Random Forest / Logistic Regression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352044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Latent Dirichlet Allocation; 5 AI sub-sector topics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352044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Outcode aggregation; Location Quotient; pgeocode geocoding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352044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Tableau-ready CSV with LQ values, coordinates &amp; sector labels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852160"/>
            <a:ext cx="11457432" cy="6400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870448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3366"/>
                </a:solidFill>
              </a:rPr>
              <a:t>Key design choice: Outcode (Postal District) chosen as the spatial unit — granular enough for hotspot detection, yet robust enough to avoid small-number statistical artefacts.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Entity Resolution &amp; HQ Proxy Modelling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D6E4F0"/>
                </a:solidFill>
              </a:rPr>
              <a:t>Preventing over-counting; assigning a single location per firm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0"/>
                </a:solidFill>
              </a:rPr>
              <a:t>Mapping and Modelling the Spatial Diffusion of AI in the UK  |  MSc Dissertation  |  Bhushan  |  Slide 8 of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</a:rP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333333"/>
                </a:solidFill>
              </a:rPr>
              <a:t>▪  Multiple sub-pages scraped per firm → naive analysis over-counts large companies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Different pages may carry different postcodes (branch offices, service areas)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Need one canonical location per firm for spatial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</a:rPr>
              <a:t>Solution: Base Domain Aggregation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333333"/>
                </a:solidFill>
              </a:rPr>
              <a:t>▪  Extract base domain from each URL (e.g. www.example.co.uk → example.co.uk)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Aggregate all text and postcodes per base domain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Assign HQ postcode = statistical Mode of all postcodes observed for that domain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577840" cy="5212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173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</a:rPr>
              <a:t>Worked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74519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333333"/>
                </a:solidFill>
              </a:rPr>
              <a:t>▪  URL 1: www.deepmind.com/research    → EC1A 1BB</a:t>
            </a:r>
          </a:p>
          <a:p>
            <a:pPr/>
            <a:r>
              <a:rPr sz="1300">
                <a:solidFill>
                  <a:srgbClr val="333333"/>
                </a:solidFill>
              </a:rPr>
              <a:t>▪  URL 2: www.deepmind.com/careers     → EC1A 1BB</a:t>
            </a:r>
          </a:p>
          <a:p>
            <a:pPr/>
            <a:r>
              <a:rPr sz="1300">
                <a:solidFill>
                  <a:srgbClr val="333333"/>
                </a:solidFill>
              </a:rPr>
              <a:t>▪  URL 3: www.deepmind.com/blog        → W1A 0AX</a:t>
            </a:r>
          </a:p>
          <a:p>
            <a:pPr/>
            <a:r>
              <a:rPr sz="1300">
                <a:solidFill>
                  <a:srgbClr val="333333"/>
                </a:solidFill>
              </a:rPr>
              <a:t>▪  URL 4: www.deepmind.com/safety      → EC1A 1BB</a:t>
            </a:r>
          </a:p>
          <a:p>
            <a:pPr/>
            <a:r>
              <a:rPr sz="1300">
                <a:solidFill>
                  <a:srgbClr val="333333"/>
                </a:solidFill>
              </a:rPr>
              <a:t>▪  </a:t>
            </a:r>
          </a:p>
          <a:p>
            <a:pPr/>
            <a:r>
              <a:rPr sz="1300">
                <a:solidFill>
                  <a:srgbClr val="333333"/>
                </a:solidFill>
              </a:rPr>
              <a:t>▪  Base domain: deepmind.com</a:t>
            </a:r>
          </a:p>
          <a:p>
            <a:pPr/>
            <a:r>
              <a:rPr sz="1300">
                <a:solidFill>
                  <a:srgbClr val="333333"/>
                </a:solidFill>
              </a:rPr>
              <a:t>▪  Postcodes observed: [EC1A, EC1A, W1A, EC1A]</a:t>
            </a:r>
          </a:p>
          <a:p>
            <a:pPr/>
            <a:r>
              <a:rPr sz="1300">
                <a:solidFill>
                  <a:srgbClr val="333333"/>
                </a:solidFill>
              </a:rPr>
              <a:t>▪  Mode → HQ Postcode: EC1A  ✓</a:t>
            </a:r>
          </a:p>
          <a:p>
            <a:pPr/>
            <a:r>
              <a:rPr sz="1300">
                <a:solidFill>
                  <a:srgbClr val="333333"/>
                </a:solidFill>
              </a:rPr>
              <a:t>▪  </a:t>
            </a:r>
          </a:p>
          <a:p>
            <a:pPr/>
            <a:r>
              <a:rPr sz="1300">
                <a:solidFill>
                  <a:srgbClr val="333333"/>
                </a:solidFill>
              </a:rPr>
              <a:t>▪  Result: 1 firm · 1 postcode · 1 spatial record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AI Classification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D6E4F0"/>
                </a:solidFill>
              </a:rPr>
              <a:t>TF-IDF + MiniBatchKMeans + Ensemble Classifiers  |  95.32% accuracy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0"/>
                </a:solidFill>
              </a:rPr>
              <a:t>Mapping and Modelling the Spatial Diffusion of AI in the UK  |  MSc Dissertation  |  Bhushan  |  Slide 9 of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37160" cy="640080"/>
          </a:xfrm>
          <a:prstGeom prst="rect">
            <a:avLst/>
          </a:prstGeom>
          <a:solidFill>
            <a:srgbClr val="00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FAD"/>
                </a:solidFill>
              </a:rPr>
              <a:t>TF-IDF Vectorisation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Max 5,000 features; removes stop-words; represents firm text as numerical feature vectors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94560"/>
            <a:ext cx="137160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9456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66"/>
                </a:solidFill>
              </a:rPr>
              <a:t>MiniBatchKMeans Clustering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688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Unsupervised pre-grouping of text documents to discover latent groupings; feeds cluster-ID as additional feature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71800"/>
            <a:ext cx="137160" cy="640080"/>
          </a:xfrm>
          <a:prstGeom prst="rect">
            <a:avLst/>
          </a:prstGeom>
          <a:solidFill>
            <a:srgbClr val="00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97180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FAD"/>
                </a:solidFill>
              </a:rPr>
              <a:t>Random Forest Classifier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24612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Ensemble of 100 decision trees; handles class imbalance; provides feature importances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49040"/>
            <a:ext cx="137160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74904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66"/>
                </a:solidFill>
              </a:rPr>
              <a:t>Logistic Regression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0233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Linear baseline; fast inference; probability calibration for threshold tuning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371600"/>
            <a:ext cx="5212080" cy="5212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1417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</a:rPr>
              <a:t>Model Performance Metrics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20840" y="1874519"/>
            <a:ext cx="484632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1874519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Class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80" y="1874519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187451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1874519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F1-Score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1874519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Support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2194559"/>
            <a:ext cx="48463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2194559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Non-AI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80" y="2194559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7AE60"/>
                </a:solidFill>
              </a:rPr>
              <a:t>99.6%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219455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95.6%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2194559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97.6%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52760" y="2194559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4,892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20840" y="2560319"/>
            <a:ext cx="484632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2560319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80" y="2560319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29.0%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256031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A500"/>
                </a:solidFill>
              </a:rPr>
              <a:t>80.6%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20" y="2560319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42.6%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52760" y="2560319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108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20840" y="2926079"/>
            <a:ext cx="4846320" cy="3657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20840" y="2926079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</a:rPr>
              <a:t>Accuracy (Overall)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26680" y="2926079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20" y="292607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2926079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</a:rPr>
              <a:t>95.32%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52760" y="2926079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</a:rPr>
              <a:t>5,000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0840" y="338328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</a:rPr>
              <a:t>Note: Class imbalance (108 AI vs 4,892 Non-AI) explains the low AI precision. High AI recall (80.6%) is prioritised to minimise missed true AI firms.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Topic Modelling – LDA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D6E4F0"/>
                </a:solidFill>
              </a:rPr>
              <a:t>Latent Dirichlet Allocation reveals 5 AI sub-sectors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0"/>
                </a:solidFill>
              </a:rPr>
              <a:t>Mapping and Modelling the Spatial Diffusion of AI in the UK  |  MSc Dissertation  |  Bhushan  |  Slide 10 of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3749039" cy="320040"/>
          </a:xfrm>
          <a:prstGeom prst="rect">
            <a:avLst/>
          </a:prstGeom>
          <a:solidFill>
            <a:srgbClr val="00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Topic 1 – Management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783080"/>
            <a:ext cx="3749039" cy="1737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82880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Top keywords:
business, strategy, operations, consultancy, talent, leadership, decision-making, enterprise, governance, analytics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463040"/>
            <a:ext cx="3749039" cy="3200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399" y="14630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Topic 2 – Commerce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783080"/>
            <a:ext cx="3749039" cy="1737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399" y="182880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Top keywords:
retail, e-commerce, customer, product, sales, marketing, recommendation, personalisation, fraud, payment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463040"/>
            <a:ext cx="3749039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4630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Topic 3 – Engineering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783080"/>
            <a:ext cx="3749039" cy="1737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82880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Top keywords:
software, hardware, robotics, sensor, simulation, design, systems, manufacturing, control, autonomous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611880"/>
            <a:ext cx="3749039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6118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Topic 4 – Infrastructure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931920"/>
            <a:ext cx="3749039" cy="1737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97764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Top keywords:
cloud, data, platform, API, server, network, security, compute, storage, deployment, MLOps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59" y="3611880"/>
            <a:ext cx="3749039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399" y="36118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Topic 5 – Automation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59" y="3931920"/>
            <a:ext cx="3749039" cy="1737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399" y="397764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Top keywords:
process, workflow, RPA, document, extraction, pipeline, scheduling, rule, trigger, efficiency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897880"/>
            <a:ext cx="11640312" cy="5943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925312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</a:rPr>
              <a:t>Interpretation: Five distinct sub-sectors spanning Management, Commerce, Engineering, Infrastructure, and Automation confirm AI's role as a General Purpose Technology (GPT) — pervasive across the entire economy.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Spatial Analysis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D6E4F0"/>
                </a:solidFill>
              </a:rPr>
              <a:t>From firm-level data to UK AI hotspot maps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0"/>
                </a:solidFill>
              </a:rPr>
              <a:t>Mapping and Modelling the Spatial Diffusion of AI in the UK  |  MSc Dissertation  |  Bhushan  |  Slide 11 of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</a:rPr>
              <a:t>Analytical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333333"/>
                </a:solidFill>
              </a:rPr>
              <a:t>▪  Aggregate classified AI firms to UK Outcode (e.g. EC1, SW1, M1) — 2,900+ districts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Calculate total firm count per Outcode as denominator (all scraped businesses)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Compute Location Quotient (LQ) per Outcode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Geocode each Outcode centroid using pgeocode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Filter AI hotspots: retain Outcodes with LQ ≥ 1.0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Export Tableau-ready CSV with lat/lon, LQ, sector composition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577840" cy="52120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</a:rPr>
              <a:t>Location Quotient (LQ) Formula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3366"/>
                </a:solidFill>
              </a:rPr>
              <a:t>LQ  =  (AI firms in Outcode / Total firms in Outcode)
        ÷
       (Total AI firms in UK / Total firms in UK)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10896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333333"/>
                </a:solidFill>
              </a:rPr>
              <a:t>▪  LQ &gt; 1.0  →  Outcode has above-average AI concentration  ✓</a:t>
            </a:r>
          </a:p>
          <a:p>
            <a:pPr/>
            <a:r>
              <a:rPr sz="1300">
                <a:solidFill>
                  <a:srgbClr val="333333"/>
                </a:solidFill>
              </a:rPr>
              <a:t>▪  LQ = 1.0  →  National average</a:t>
            </a:r>
          </a:p>
          <a:p>
            <a:pPr/>
            <a:r>
              <a:rPr sz="1300">
                <a:solidFill>
                  <a:srgbClr val="333333"/>
                </a:solidFill>
              </a:rPr>
              <a:t>▪  LQ &lt; 1.0  →  Below-average AI concentration</a:t>
            </a:r>
          </a:p>
          <a:p>
            <a:pPr/>
            <a:r>
              <a:rPr sz="1300">
                <a:solidFill>
                  <a:srgbClr val="333333"/>
                </a:solidFill>
              </a:rPr>
              <a:t>▪  LQ ≥ 2.0  →  Significant AI cluster (hotspot)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48640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</a:rPr>
              <a:t>Spatial unit: Outcode chosen over LAD or LSOA for optimal balance between granularity and statistical robustness.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Findings – Spatial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D6E4F0"/>
                </a:solidFill>
              </a:rPr>
              <a:t>AI hotspot geography across the UK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0"/>
                </a:solidFill>
              </a:rPr>
              <a:t>Mapping and Modelling the Spatial Diffusion of AI in the UK  |  MSc Dissertation  |  Bhushan  |  Slide 12 of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1457432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</a:rPr>
              <a:t>London Dominance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463040"/>
            <a:ext cx="7955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London Outcodes (EC, WC, W, SW, SE, N, E) account for the majority of AI hotspots by LQ and absolute count. The City of London and Tech City / Silicon Roundabout emerge as primary clusters.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86000"/>
            <a:ext cx="1145743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31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</a:rPr>
              <a:t>Hierarchical Diffusion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331720"/>
            <a:ext cx="7955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Secondary cities — Manchester (M1–M4), Edinburgh (EH), Bristol (BS), Leeds (LS) — show elevated LQs, consistent with hierarchical trickle-down from London.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54680"/>
            <a:ext cx="11457432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</a:rPr>
              <a:t>Geographic Clustering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200400"/>
            <a:ext cx="7955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Spatial autocorrelation evident: AI hotspot Outcodes tend to be adjacent to other hotspot Outcodes, suggesting localised knowledge spillovers.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23360"/>
            <a:ext cx="1145743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069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</a:rPr>
              <a:t>National AI Density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069080"/>
            <a:ext cx="7955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Hotspot dataset (LQ ≥ 1.0) captures significant share of classified AI firms. Peripheral UK regions show markedly lower LQ values — a digital divide.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892040"/>
            <a:ext cx="11457432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937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</a:rPr>
              <a:t>Output: ai_hotspots_for_tableau.csv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937760"/>
            <a:ext cx="7955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Final dataset with Outcode, LQ, firm count, lat/lon, and sector composition — ready for Tableau choropleth and dot-density mapping.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Findings – Sectoral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D6E4F0"/>
                </a:solidFill>
              </a:rPr>
              <a:t>LDA sub-sectors reveal AI's role as a General Purpose Technology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0"/>
                </a:solidFill>
              </a:rPr>
              <a:t>Mapping and Modelling the Spatial Diffusion of AI in the UK  |  MSc Dissertation  |  Bhushan  |  Slide 13 of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2240280" cy="457200"/>
          </a:xfrm>
          <a:prstGeom prst="rect">
            <a:avLst/>
          </a:prstGeom>
          <a:solidFill>
            <a:srgbClr val="00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1732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Management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74519"/>
            <a:ext cx="224028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874519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3366"/>
                </a:solidFill>
              </a:rPr>
              <a:t>37%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77440"/>
            <a:ext cx="224028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423160"/>
            <a:ext cx="2057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Widely distributed nationally; strong presence in financial districts and corporate headquarters.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1417320"/>
            <a:ext cx="2240280" cy="4572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141732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Commerce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1874519"/>
            <a:ext cx="224028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1874519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3366"/>
                </a:solidFill>
              </a:rPr>
              <a:t>24%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2377440"/>
            <a:ext cx="224028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2423160"/>
            <a:ext cx="2057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Concentrated in retail / logistics corridors; Manchester and Birmingham show high relative density.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1417320"/>
            <a:ext cx="224028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141732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Engineering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1874519"/>
            <a:ext cx="224028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1874519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3366"/>
                </a:solidFill>
              </a:rPr>
              <a:t>15%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2377440"/>
            <a:ext cx="224028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2423160"/>
            <a:ext cx="2057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Clusters near university cities (Cambridge, Bristol, Edinburgh) and manufacturing belts.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1417320"/>
            <a:ext cx="224028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141732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Infrastructure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1874519"/>
            <a:ext cx="224028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1874519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3366"/>
                </a:solidFill>
              </a:rPr>
              <a:t>14%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2377440"/>
            <a:ext cx="224028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0" y="2423160"/>
            <a:ext cx="2057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Dominant in London data-centre corridors; cloud and MLOps firms in EC and W postcodes.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84080" y="1417320"/>
            <a:ext cx="224028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0" y="141732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Automation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84080" y="1874519"/>
            <a:ext cx="224028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0" y="1874519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3366"/>
                </a:solidFill>
              </a:rPr>
              <a:t>10%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84080" y="2377440"/>
            <a:ext cx="224028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0" y="2423160"/>
            <a:ext cx="2057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Mixed geography; manufacturing regions (West Midlands, Sheffield) show elevated representation.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846320"/>
            <a:ext cx="11640312" cy="8229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89204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3366"/>
                </a:solidFill>
              </a:rPr>
              <a:t>GPT Interpretation: The presence of AI across five economically distinct sub-sectors — from Engineering to Commerce to Management — empirically supports Bresnahan &amp; Trajtenberg's (1995) GPT framework. AI is not a niche technology; it is economically pervasive.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</a:rPr>
              <a:t>Regional LQ decomposition by sector enables identification of sectoral specialisation — e.g., Infrastructure over-represented in London; Engineering over-represented in Cambridge and Bristol.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Findings – Diffusion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D6E4F0"/>
                </a:solidFill>
              </a:rPr>
              <a:t>Hierarchical &amp; epidemic diffusion both confirmed in the UK AI economy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0"/>
                </a:solidFill>
              </a:rPr>
              <a:t>Mapping and Modelling the Spatial Diffusion of AI in the UK  |  MSc Dissertation  |  Bhushan  |  Slide 14 of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669280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Hierarchical Diffusion 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333333"/>
                </a:solidFill>
              </a:rPr>
              <a:t>▪  London acts as the unequivocal primary hub (primate city)</a:t>
            </a:r>
          </a:p>
          <a:p>
            <a:pPr/>
            <a:r>
              <a:rPr sz="1300">
                <a:solidFill>
                  <a:srgbClr val="333333"/>
                </a:solidFill>
              </a:rPr>
              <a:t>▪  AI presence cascades to Tier-2 cities: Manchester, Edinburgh, Bristol, Leeds, Birmingham</a:t>
            </a:r>
          </a:p>
          <a:p>
            <a:pPr/>
            <a:r>
              <a:rPr sz="1300">
                <a:solidFill>
                  <a:srgbClr val="333333"/>
                </a:solidFill>
              </a:rPr>
              <a:t>▪  Consistent with Hägerstrand's hierarchical wave model</a:t>
            </a:r>
          </a:p>
          <a:p>
            <a:pPr/>
            <a:r>
              <a:rPr sz="1300">
                <a:solidFill>
                  <a:srgbClr val="333333"/>
                </a:solidFill>
              </a:rPr>
              <a:t>▪  Urban rank closely predicts AI firm density</a:t>
            </a:r>
          </a:p>
          <a:p>
            <a:pPr/>
            <a:r>
              <a:rPr sz="1300">
                <a:solidFill>
                  <a:srgbClr val="333333"/>
                </a:solidFill>
              </a:rPr>
              <a:t>▪  Implies policy levers must target secondary cities to achieve equitable diffusion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5669280" cy="411480"/>
          </a:xfrm>
          <a:prstGeom prst="rect">
            <a:avLst/>
          </a:prstGeom>
          <a:solidFill>
            <a:srgbClr val="00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417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Epidemic / Contagious Diffusion  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9202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333333"/>
                </a:solidFill>
              </a:rPr>
              <a:t>▪  Spatial clustering of hotspot Outcodes — adjacency drives adoption</a:t>
            </a:r>
          </a:p>
          <a:p>
            <a:pPr/>
            <a:r>
              <a:rPr sz="1300">
                <a:solidFill>
                  <a:srgbClr val="333333"/>
                </a:solidFill>
              </a:rPr>
              <a:t>▪  Knowledge spillovers evident around Tech City (EC1 / N1) and Cambridge (CB)</a:t>
            </a:r>
          </a:p>
          <a:p>
            <a:pPr/>
            <a:r>
              <a:rPr sz="1300">
                <a:solidFill>
                  <a:srgbClr val="333333"/>
                </a:solidFill>
              </a:rPr>
              <a:t>▪  Proximity to existing AI firms significantly predicts new firm emergence</a:t>
            </a:r>
          </a:p>
          <a:p>
            <a:pPr/>
            <a:r>
              <a:rPr sz="1300">
                <a:solidFill>
                  <a:srgbClr val="333333"/>
                </a:solidFill>
              </a:rPr>
              <a:t>▪  Consistent with epidemic model: 'infection' spreads through geographic contact</a:t>
            </a:r>
          </a:p>
          <a:p>
            <a:pPr/>
            <a:r>
              <a:rPr sz="1300">
                <a:solidFill>
                  <a:srgbClr val="333333"/>
                </a:solidFill>
              </a:rPr>
              <a:t>▪  Agglomeration externalities (talent, capital, supply chains) reinforce clustering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5897880"/>
            <a:ext cx="11640312" cy="59436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925312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</a:rPr>
              <a:t>Both diffusion mechanisms operate simultaneously — hierarchical at the macro (city) scale, epidemic at the micro (neighbourhood) scale — mirroring findings in prior innovation geography literature.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Discussion &amp;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D6E4F0"/>
                </a:solidFill>
              </a:rPr>
              <a:t>Theoretical contributions and policy relevance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0"/>
                </a:solidFill>
              </a:rPr>
              <a:t>Mapping and Modelling the Spatial Diffusion of AI in the UK  |  MSc Dissertation  |  Bhushan  |  Slide 15 of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1457432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091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Theoretical Contributions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64792"/>
            <a:ext cx="110916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333333"/>
                </a:solidFill>
              </a:rPr>
              <a:t>▪  First large-scale firm-level spatial analysis of UK AI diffusion</a:t>
            </a:r>
          </a:p>
          <a:p>
            <a:pPr/>
            <a:r>
              <a:rPr sz="1300">
                <a:solidFill>
                  <a:srgbClr val="333333"/>
                </a:solidFill>
              </a:rPr>
              <a:t>▪  Integrates ML classification with spatial econometrics in a single reproducible pipeline</a:t>
            </a:r>
          </a:p>
          <a:p>
            <a:pPr/>
            <a:r>
              <a:rPr sz="1300">
                <a:solidFill>
                  <a:srgbClr val="333333"/>
                </a:solidFill>
              </a:rPr>
              <a:t>▪  Empirically validates both hierarchical and epidemic diffusion models in the AI context</a:t>
            </a:r>
          </a:p>
          <a:p>
            <a:pPr/>
            <a:r>
              <a:rPr sz="1300">
                <a:solidFill>
                  <a:srgbClr val="333333"/>
                </a:solidFill>
              </a:rPr>
              <a:t>▪  Confirms GPT pervasiveness via LDA sub-sector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27831"/>
            <a:ext cx="11457432" cy="347472"/>
          </a:xfrm>
          <a:prstGeom prst="rect">
            <a:avLst/>
          </a:prstGeom>
          <a:solidFill>
            <a:srgbClr val="00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27831"/>
            <a:ext cx="11091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Policy Implications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75303"/>
            <a:ext cx="110916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333333"/>
                </a:solidFill>
              </a:rPr>
              <a:t>▪  Regional AI investment should target secondary cities to stimulate hierarchical trickle-down</a:t>
            </a:r>
          </a:p>
          <a:p>
            <a:pPr/>
            <a:r>
              <a:rPr sz="1300">
                <a:solidFill>
                  <a:srgbClr val="333333"/>
                </a:solidFill>
              </a:rPr>
              <a:t>▪  Co-location incentives (innovation districts, enterprise zones) can amplify epidemic spillovers</a:t>
            </a:r>
          </a:p>
          <a:p>
            <a:pPr/>
            <a:r>
              <a:rPr sz="1300">
                <a:solidFill>
                  <a:srgbClr val="333333"/>
                </a:solidFill>
              </a:rPr>
              <a:t>▪  Digital divide risk: peripheral regions require targeted skills and infrastructure investment</a:t>
            </a:r>
          </a:p>
          <a:p>
            <a:pPr/>
            <a:r>
              <a:rPr sz="1300">
                <a:solidFill>
                  <a:srgbClr val="333333"/>
                </a:solidFill>
              </a:rPr>
              <a:t>▪  UK AI Strategy should disaggregate national targets to Outcode / LAD level for spatial accountability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038342"/>
            <a:ext cx="11457432" cy="34747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038342"/>
            <a:ext cx="11091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Broader Significance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85814"/>
            <a:ext cx="1109167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333333"/>
                </a:solidFill>
              </a:rPr>
              <a:t>▪  Framework is sector-agnostic and can be applied to other emerging technologies (quantum, biotech)</a:t>
            </a:r>
          </a:p>
          <a:p>
            <a:pPr/>
            <a:r>
              <a:rPr sz="1300">
                <a:solidFill>
                  <a:srgbClr val="333333"/>
                </a:solidFill>
              </a:rPr>
              <a:t>▪  Postcode-level granularity enables precise local authority decision-making</a:t>
            </a:r>
          </a:p>
          <a:p>
            <a:pPr/>
            <a:r>
              <a:rPr sz="1300">
                <a:solidFill>
                  <a:srgbClr val="333333"/>
                </a:solidFill>
              </a:rPr>
              <a:t>▪  Open-source pipeline (Python) supports reproducibility and future longitudinal extensions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D6E4F0"/>
                </a:solidFill>
              </a:rPr>
              <a:t>Honest appraisal and roadmap for future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0"/>
                </a:solidFill>
              </a:rPr>
              <a:t>Mapping and Modelling the Spatial Diffusion of AI in the UK  |  MSc Dissertation  |  Bhushan  |  Slide 16 of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</a:rP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</a:rPr>
              <a:t>▪  Web Scraping Coverage: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39112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Dataset limited to publicly accessible business websites. Stealth AI R&amp;D (in-house corporate AI, government) likely under-represented.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87752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</a:rPr>
              <a:t>▪  Temporal Snapshot: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43784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Data reflects a single point in time. Dynamic diffusion patterns (velocity, acceleration) cannot be inferred without longitudinal panel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92424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</a:rPr>
              <a:t>▪  HQ Proxy Accuracy: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48456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Mode-based postcode proxy may misassign HQ for firms with multiple equally-represented locations or remote-first workforces.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9709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</a:rPr>
              <a:t>▪  Class Imbalance: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53128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AI firms are rare relative to the total business population. Low AI precision (29%) risks false positives; threshold calibration is an ongoing challenge.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01768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</a:rPr>
              <a:t>▪  Spatial Unit: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25780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Outcode aggregation masks within-Outcode heterogeneity. Smaller units (e.g., unit postcode) would improve resolution but reduce statistical robustness.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3716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</a:rPr>
              <a:t>Future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78308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333333"/>
                </a:solidFill>
              </a:rPr>
              <a:t>▪  Panel data: track AI firm emergence year-on-year (2015–2025)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Network analysis: map knowledge flows between AI firms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International comparison: UK vs. EU vs. US spatial patterns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Causal inference: DiD analysis of policy interventions</a:t>
            </a:r>
          </a:p>
          <a:p>
            <a:pPr/>
            <a:r>
              <a:rPr sz="1400">
                <a:solidFill>
                  <a:srgbClr val="333333"/>
                </a:solidFill>
              </a:rPr>
              <a:t>▪  Real-time pipeline: live web-scraping + automated LQ updates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D6E4F0"/>
                </a:solidFill>
              </a:rPr>
              <a:t>Summary of contributions and 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0"/>
                </a:solidFill>
              </a:rPr>
              <a:t>Mapping and Modelling the Spatial Diffusion of AI in the UK  |  MSc Dissertation  |  Bhushan  |  Slide 17 of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11457432" cy="7772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66"/>
                </a:solidFill>
              </a:rPr>
              <a:t>Contribution 1: Novel Spatial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01368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First firm-level UK AI hotspot map at Outcode resolution, produced via an integrated ML + spatial econometrics pipeline.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04288"/>
            <a:ext cx="11457432" cy="777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50008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66"/>
                </a:solidFill>
              </a:rPr>
              <a:t>Contribution 2: Validated Diffusion Theory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42616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Empirical evidence for both hierarchical and epidemic AI diffusion in the UK — answering the primary research question.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45536"/>
            <a:ext cx="11457432" cy="7772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191256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66"/>
                </a:solidFill>
              </a:rPr>
              <a:t>Contribution 3: GPT Confirmation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483864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LDA topic modelling across 5 distinct sub-sectors provides firm-level evidence of AI's General Purpose Technology status.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986784"/>
            <a:ext cx="11457432" cy="777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032504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66"/>
                </a:solidFill>
              </a:rPr>
              <a:t>Contribution 4: Reproducible Open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25112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Python codebase (Model.py, Topic_Modeling.py, Spatial_Analysis.py) is modular, scalable, and applicable to other technology sectors.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828032"/>
            <a:ext cx="11457432" cy="7772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73752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66"/>
                </a:solidFill>
              </a:rPr>
              <a:t>Contribution 5: Policy-Ready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1663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Tableau-ready CSV (ai_hotspots_for_tableau.csv) provides actionable spatial intelligence for UK regional AI strategy.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943600"/>
            <a:ext cx="11457432" cy="5943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96188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FFFFFF"/>
                </a:solidFill>
              </a:rPr>
              <a:t>"AI diffusion in the UK is spatially uneven, hierarchically structured, and sectorally pervasive — understanding this geography is essential for equitable and effective AI policy."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References &amp; Acknowledgements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>
                <a:solidFill>
                  <a:srgbClr val="D6E4F0"/>
                </a:solidFill>
              </a:rPr>
              <a:t>▪  Bresnahan, T.F. &amp; Trajtenberg, M. (1995). General purpose technologies: 'Engines of growth'? Journal of Econometrics, 65(1), 83–108.</a:t>
            </a:r>
          </a:p>
          <a:p>
            <a:pPr/>
            <a:r>
              <a:rPr sz="1100">
                <a:solidFill>
                  <a:srgbClr val="D6E4F0"/>
                </a:solidFill>
              </a:rPr>
              <a:t>▪  Rogers, E.M. (1962). Diffusion of Innovations. Free Press, New York.</a:t>
            </a:r>
          </a:p>
          <a:p>
            <a:pPr/>
            <a:r>
              <a:rPr sz="1100">
                <a:solidFill>
                  <a:srgbClr val="D6E4F0"/>
                </a:solidFill>
              </a:rPr>
              <a:t>▪  Hägerstrand, T. (1967). Innovation Diffusion as a Spatial Process. University of Chicago Press.</a:t>
            </a:r>
          </a:p>
          <a:p>
            <a:pPr/>
            <a:r>
              <a:rPr sz="1100">
                <a:solidFill>
                  <a:srgbClr val="D6E4F0"/>
                </a:solidFill>
              </a:rPr>
              <a:t>▪  Audretsch, D.B. &amp; Feldman, M.P. (1996). R&amp;D spillovers and the geography of innovation and production. American Economic Review, 86(3), 630–640.</a:t>
            </a:r>
          </a:p>
          <a:p>
            <a:pPr/>
            <a:r>
              <a:rPr sz="1100">
                <a:solidFill>
                  <a:srgbClr val="D6E4F0"/>
                </a:solidFill>
              </a:rPr>
              <a:t>▪  Bathelt, H., Malmberg, A. &amp; Maskell, P. (2004). Clusters and knowledge: local buzz, global pipelines and the process of knowledge creation. Progress in Human Geography, 28(1), 31–56.</a:t>
            </a:r>
          </a:p>
          <a:p>
            <a:pPr/>
            <a:r>
              <a:rPr sz="1100">
                <a:solidFill>
                  <a:srgbClr val="D6E4F0"/>
                </a:solidFill>
              </a:rPr>
              <a:t>▪  Blei, D.M., Ng, A.Y. &amp; Jordan, M.I. (2003). Latent Dirichlet Allocation. Journal of Machine Learning Research, 3, 993–1022.</a:t>
            </a:r>
          </a:p>
          <a:p>
            <a:pPr/>
            <a:r>
              <a:rPr sz="1100">
                <a:solidFill>
                  <a:srgbClr val="D6E4F0"/>
                </a:solidFill>
              </a:rPr>
              <a:t>▪  Dosi, G. (1982). Technological paradigms and technological trajectories. Research Policy, 11(3), 147–162.</a:t>
            </a:r>
          </a:p>
          <a:p>
            <a:pPr/>
            <a:r>
              <a:rPr sz="1100">
                <a:solidFill>
                  <a:srgbClr val="D6E4F0"/>
                </a:solidFill>
              </a:rPr>
              <a:t>▪  DCMS / DSIT (2023). AI Activity in UK Businesses. UK Department for Science, Innovation &amp; Technology.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5303520"/>
            <a:ext cx="8531352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5349240"/>
            <a:ext cx="8531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3366"/>
                </a:solidFill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989320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005FAD"/>
                </a:solidFill>
              </a:rPr>
              <a:t>Questions &amp; Discussion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